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23" r:id="rId2"/>
    <p:sldMasterId id="2147483735" r:id="rId3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86" r:id="rId10"/>
    <p:sldId id="263" r:id="rId11"/>
    <p:sldId id="288" r:id="rId12"/>
    <p:sldId id="289" r:id="rId13"/>
    <p:sldId id="290" r:id="rId14"/>
    <p:sldId id="264" r:id="rId15"/>
    <p:sldId id="265" r:id="rId16"/>
    <p:sldId id="266" r:id="rId17"/>
    <p:sldId id="267" r:id="rId18"/>
    <p:sldId id="29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1" d="100"/>
          <a:sy n="81" d="100"/>
        </p:scale>
        <p:origin x="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BB576-99F4-40AE-8F75-3852602DAF55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0A740-141B-4877-BC5B-364C83D152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44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4652E4-5120-44D6-918A-894636DEFCB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4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emf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emf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8A40-2E49-DE5A-ED45-252F1F7BA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A65BD-684E-8454-3C01-08D8B393A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4ABED-3A1A-1BEA-6CD0-B6FA40025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8E313-F9AE-40C3-7CFD-9A86BD875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8A3D3-5922-C9C9-A2C0-A88D73D7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954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089D-0E70-9F9A-33B7-67308899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7DAD4-8EFC-39DE-D878-CFD3C01C0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25DE8-A2BF-9281-C68E-1A33C1F5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F4A45-4BB7-DAE0-FB2A-F57BD919B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5FA96-6467-1F12-A55F-73D87B1F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74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9ED9D-D6D6-D543-1DCF-F8B9A692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D6613-E1B2-AAA9-F9AF-1AB00F214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4AC9C-94F8-31D1-6032-2592CFEE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EF5B0-31A6-8960-A3B3-7D9A6C84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0016-8875-4D4E-6DE7-18B75FBD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326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27936-B6DE-6128-D84A-7CD4E49B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BB41F-F149-F187-329E-AF23D2DE3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4798A-070C-2CC9-C6E3-9096FE8E9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2F9A2-24C4-CCC7-F9EA-CE2C599C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3658C-843A-BBC5-5615-8292679A6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8A543-476F-6465-4EAE-148F1516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1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348E-FA0C-F623-0A5D-2E01A1C0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F35E6-2114-B022-0EDE-304DAE48F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0D3C8-A3D5-0642-1AA6-98AF061F8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A2597A-AD56-D4F6-039F-D219FFC83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BFBEB-A04F-C9F5-7B86-32EE5DF8B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7D9BB-0F67-6FD1-9F98-D61DB742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EB14B-8E38-5927-C285-046ED3ABB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733A6-BD7E-B052-D0E5-82FD18FF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91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D63F-BADA-9808-4DBB-BE6F45F4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04227-3D2A-6743-646A-88974AA2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B1187-C0FE-A712-CF73-0FD8071B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B1402B-78EE-4127-6860-BB2477B1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64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DD80B3-2D45-8A86-65E4-6441B1B4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4AB31-38A1-8D02-F1B9-D6522669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260EF-4E92-5FD6-8FDD-E64C4DBC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255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FC25-E0D5-7FE5-658C-77F8EEE5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667B5-04F7-F1B9-425D-08F9F5343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4CFA7-07CE-F82C-C53C-3C3F17C21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D5E0A-1CC0-4E8C-D1FF-CCC29CDE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1C9F-1428-0879-18AC-3C8AD6570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FEFC5-AE14-A0C7-1B14-5554460D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70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FC3A-60A0-4512-4A8F-474FC7E7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C56DD-04B9-5A83-3BB7-C433F148D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FE397-DFC2-3D23-7D3D-CCB1A7F51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8F77C-9B98-9ACC-ABCD-044515EA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DC1EC-4926-231A-F430-F71499C3E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EFE74-3B72-EFDE-5012-DD54C389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072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0687-DF7C-7B9D-1953-DDCB61B6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C3B6DC-DB0D-C15D-BB5E-E8722C2E7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E687-169F-C52C-4ED5-560B816C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86A58-5401-B7F5-8FFC-F6D15BDF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4070A-9967-9A96-FFF2-A8502D203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80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9B465-FA47-5B6A-6F79-5ACFF0FDF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5979F-8688-1D95-6AEB-656A790B5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7AEE8-1B18-CB4F-4503-09ECB55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FE84E-E228-9877-1A02-038F96FC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1EE9F-E478-7EA1-2140-1AB64408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671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39F7D1-31ED-4588-7F6B-7214367FB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744" y="209677"/>
            <a:ext cx="9064752" cy="1097915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3A1C6A-339B-343A-B0AD-F761FE910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745" y="1344676"/>
            <a:ext cx="9064752" cy="511175"/>
          </a:xfrm>
        </p:spPr>
        <p:txBody>
          <a:bodyPr lIns="164592" tIns="0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35829F9-B704-5645-ABE3-F98170E89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6346" y="585334"/>
            <a:ext cx="1005840" cy="1005840"/>
          </a:xfrm>
          <a:prstGeom prst="ellipse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807DD9B-8716-9B22-9F91-88E6071F91D3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487786" y="649342"/>
            <a:ext cx="822960" cy="822960"/>
          </a:xfrm>
          <a:prstGeom prst="ellipse">
            <a:avLst/>
          </a:prstGeom>
          <a:ln w="22225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65C986-E3D2-97E7-9111-0299F9C3B1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608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D86E3A-6D68-1F05-DE18-246FA7A44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404" y="3046075"/>
            <a:ext cx="1828633" cy="96903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6C169315-0602-4C85-86EE-5C3554AAA92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3608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70FD3BFF-C0B9-AA50-A3D6-B4A48EEF75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056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BEE5563-8FF1-7479-E11E-F0144D753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2496" y="4399153"/>
            <a:ext cx="685800" cy="685800"/>
          </a:xfrm>
          <a:prstGeom prst="ellipse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69C1816-EC8E-961C-AC21-6D86E9C455A1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796796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9F9A0E21-E67B-7E2F-ED16-4BABF07810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056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CFE922A-6A5A-4DA8-1E44-D80852772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3404" y="5377870"/>
            <a:ext cx="1827083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3">
                    <a:lumMod val="75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3D56C31D-5FDB-2235-FFF8-2AB6E04C9B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62072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81FC81D-B431-FFA6-47F5-F40C79C53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46272" y="3046075"/>
            <a:ext cx="1828633" cy="9690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16A2860-4464-B092-801E-255A6B7DF3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62072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3B992882-DF57-9DAF-2532-06C30C2D9F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62072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E63250C-AB2E-9D56-C26C-1E211DFAD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7724" y="4399153"/>
            <a:ext cx="685800" cy="685800"/>
          </a:xfrm>
          <a:prstGeom prst="ellipse">
            <a:avLst/>
          </a:prstGeom>
          <a:noFill/>
          <a:ln w="127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Picture Placeholder 13">
            <a:extLst>
              <a:ext uri="{FF2B5EF4-FFF2-40B4-BE49-F238E27FC236}">
                <a16:creationId xmlns:a16="http://schemas.microsoft.com/office/drawing/2014/main" id="{50C6734A-2661-863D-C8B6-6A4DBC588FE4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4002024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50D7755C-4D0B-D8A7-6235-8E606B39F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862072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6330766-86D4-F436-F65D-07EF389BF5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43485" y="5377870"/>
            <a:ext cx="1836387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2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540E06E-3F2B-A3DC-320A-8C968AC435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50536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6BB721-1D88-1A03-1D55-5C79942C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39140" y="3046075"/>
            <a:ext cx="1828634" cy="96903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51307C43-6072-93E9-BF1D-64D42AE2A5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536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7CBDAD5E-0048-0813-47FC-FFE93F191C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65776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0D4CBD1-AAC9-3F04-3F49-E8579F6F7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2952" y="4402872"/>
            <a:ext cx="685800" cy="685800"/>
          </a:xfrm>
          <a:prstGeom prst="ellipse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Picture Placeholder 13">
            <a:extLst>
              <a:ext uri="{FF2B5EF4-FFF2-40B4-BE49-F238E27FC236}">
                <a16:creationId xmlns:a16="http://schemas.microsoft.com/office/drawing/2014/main" id="{F154717D-74D1-298B-EF00-6CCA65AA969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207252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A23A057-C011-EB28-4869-A73F2E3B339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5776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51B736-1CC5-842A-AFEB-68B18931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42870" y="5377870"/>
            <a:ext cx="1827639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2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716EA8F4-B9C4-991F-0EBC-D79877AD46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39000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B68F5A8-E314-7C7A-6CB2-3036DF2A8E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332009" y="3046075"/>
            <a:ext cx="1828635" cy="9690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5A57C80F-4C30-26E1-B38B-3D7238EC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9000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A44BB5F0-6856-4711-058C-73C1CBF464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57288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EF56C89-6D7E-4196-72BF-23ACEE823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98180" y="4402872"/>
            <a:ext cx="685800" cy="685800"/>
          </a:xfrm>
          <a:prstGeom prst="ellipse">
            <a:avLst/>
          </a:prstGeom>
          <a:noFill/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Picture Placeholder 13">
            <a:extLst>
              <a:ext uri="{FF2B5EF4-FFF2-40B4-BE49-F238E27FC236}">
                <a16:creationId xmlns:a16="http://schemas.microsoft.com/office/drawing/2014/main" id="{719C23E4-DE06-6FF4-1BC9-5305DE50D817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8412480" y="4517172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F5A3DA8B-D38B-3994-FE85-0A331FBADAD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57288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71B152-C165-EE9A-CF25-69B01D939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33507" y="5377870"/>
            <a:ext cx="1828375" cy="0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/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D3896BC4-3EFC-36C4-6071-4BF0E987F9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27464" y="2556796"/>
            <a:ext cx="1996440" cy="381190"/>
          </a:xfrm>
        </p:spPr>
        <p:txBody>
          <a:bodyPr lIns="91440" tIns="0">
            <a:noAutofit/>
          </a:bodyPr>
          <a:lstStyle>
            <a:lvl1pPr marL="0" indent="0">
              <a:buNone/>
              <a:defRPr sz="2200" b="1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6236E29-4894-FD6C-E56F-5B1CBA99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24879" y="3046075"/>
            <a:ext cx="1828635" cy="96903"/>
          </a:xfrm>
          <a:prstGeom prst="rect">
            <a:avLst/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216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C2DA584-D9BC-7A01-6F48-363C7F6465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27464" y="3391012"/>
            <a:ext cx="1996440" cy="778652"/>
          </a:xfrm>
        </p:spPr>
        <p:txBody>
          <a:bodyPr lIns="91440" tIns="0">
            <a:noAutofit/>
          </a:bodyPr>
          <a:lstStyle>
            <a:lvl1pPr marL="0" indent="0">
              <a:buNone/>
              <a:defRPr sz="12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70C95BBB-511F-F8F5-EF37-C6109C4AF4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48800" y="4505738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2000" cap="all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xxxx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0EDAC9C-0C6E-2807-24D5-3E04B5E21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84738" y="4399153"/>
            <a:ext cx="685800" cy="685800"/>
          </a:xfrm>
          <a:prstGeom prst="ellipse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Picture Placeholder 13">
            <a:extLst>
              <a:ext uri="{FF2B5EF4-FFF2-40B4-BE49-F238E27FC236}">
                <a16:creationId xmlns:a16="http://schemas.microsoft.com/office/drawing/2014/main" id="{B1C0F0FD-844D-CC54-986F-B8522F12B0A5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10599038" y="4513453"/>
            <a:ext cx="457200" cy="457200"/>
          </a:xfrm>
          <a:prstGeom prst="ellipse">
            <a:avLst/>
          </a:prstGeom>
          <a:ln w="19050">
            <a:noFill/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A00816D8-6779-7BDB-52AB-5BD0A2479E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448800" y="4894756"/>
            <a:ext cx="893064" cy="335470"/>
          </a:xfrm>
        </p:spPr>
        <p:txBody>
          <a:bodyPr lIns="91440" tIns="0">
            <a:no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506AFF-E40E-308E-7907-FBFC4DAAB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24879" y="5376344"/>
            <a:ext cx="1828635" cy="3053"/>
          </a:xfrm>
          <a:prstGeom prst="straightConnector1">
            <a:avLst/>
          </a:prstGeom>
          <a:ln w="19050" cap="flat" cmpd="sng" algn="ctr">
            <a:gradFill>
              <a:gsLst>
                <a:gs pos="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60000" scaled="0"/>
            </a:gra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11DE-725C-8DE4-9A24-3718A3D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560" y="6072886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 sz="1000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D8153-A9C6-7A32-CDB7-BF9D7CB1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8616" y="60728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0</a:t>
            </a:r>
            <a:fld id="{E6B975A5-EA91-314B-AF62-F6E264554D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66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BC6ED5-DBEC-4BA5-9BFE-9A5E0ED8D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124" y="457199"/>
            <a:ext cx="11731752" cy="117605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E4AF8E1-6D3D-7A31-0DD3-7B583B821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320120" y="2020391"/>
            <a:ext cx="9378501" cy="2410190"/>
            <a:chOff x="1320120" y="2020391"/>
            <a:chExt cx="9378501" cy="2410190"/>
          </a:xfrm>
        </p:grpSpPr>
        <p:sp>
          <p:nvSpPr>
            <p:cNvPr id="8" name="Freeform: Shape 7" descr="timeline ">
              <a:extLst>
                <a:ext uri="{FF2B5EF4-FFF2-40B4-BE49-F238E27FC236}">
                  <a16:creationId xmlns:a16="http://schemas.microsoft.com/office/drawing/2014/main" id="{95FFD2E4-8235-F2BF-A205-9D552619322C}"/>
                </a:ext>
              </a:extLst>
            </p:cNvPr>
            <p:cNvSpPr/>
            <p:nvPr/>
          </p:nvSpPr>
          <p:spPr>
            <a:xfrm flipH="1" flipV="1">
              <a:off x="1392439" y="2020391"/>
              <a:ext cx="9252295" cy="2410190"/>
            </a:xfrm>
            <a:custGeom>
              <a:avLst/>
              <a:gdLst>
                <a:gd name="connsiteX0" fmla="*/ 1192508 w 9252295"/>
                <a:gd name="connsiteY0" fmla="*/ 2410190 h 2410190"/>
                <a:gd name="connsiteX1" fmla="*/ 0 w 9252295"/>
                <a:gd name="connsiteY1" fmla="*/ 1217682 h 2410190"/>
                <a:gd name="connsiteX2" fmla="*/ 1107 w 9252295"/>
                <a:gd name="connsiteY2" fmla="*/ 1206703 h 2410190"/>
                <a:gd name="connsiteX3" fmla="*/ 96158 w 9252295"/>
                <a:gd name="connsiteY3" fmla="*/ 1206703 h 2410190"/>
                <a:gd name="connsiteX4" fmla="*/ 95051 w 9252295"/>
                <a:gd name="connsiteY4" fmla="*/ 1217682 h 2410190"/>
                <a:gd name="connsiteX5" fmla="*/ 1192508 w 9252295"/>
                <a:gd name="connsiteY5" fmla="*/ 2315139 h 2410190"/>
                <a:gd name="connsiteX6" fmla="*/ 2289965 w 9252295"/>
                <a:gd name="connsiteY6" fmla="*/ 1217682 h 2410190"/>
                <a:gd name="connsiteX7" fmla="*/ 2289554 w 9252295"/>
                <a:gd name="connsiteY7" fmla="*/ 1209531 h 2410190"/>
                <a:gd name="connsiteX8" fmla="*/ 2290085 w 9252295"/>
                <a:gd name="connsiteY8" fmla="*/ 1209531 h 2410190"/>
                <a:gd name="connsiteX9" fmla="*/ 2295831 w 9252295"/>
                <a:gd name="connsiteY9" fmla="*/ 1095755 h 2410190"/>
                <a:gd name="connsiteX10" fmla="*/ 3482182 w 9252295"/>
                <a:gd name="connsiteY10" fmla="*/ 25174 h 2410190"/>
                <a:gd name="connsiteX11" fmla="*/ 4668533 w 9252295"/>
                <a:gd name="connsiteY11" fmla="*/ 1095755 h 2410190"/>
                <a:gd name="connsiteX12" fmla="*/ 4674278 w 9252295"/>
                <a:gd name="connsiteY12" fmla="*/ 1209531 h 2410190"/>
                <a:gd name="connsiteX13" fmla="*/ 4673516 w 9252295"/>
                <a:gd name="connsiteY13" fmla="*/ 1209531 h 2410190"/>
                <a:gd name="connsiteX14" fmla="*/ 4678322 w 9252295"/>
                <a:gd name="connsiteY14" fmla="*/ 1304717 h 2410190"/>
                <a:gd name="connsiteX15" fmla="*/ 5770114 w 9252295"/>
                <a:gd name="connsiteY15" fmla="*/ 2289966 h 2410190"/>
                <a:gd name="connsiteX16" fmla="*/ 6861904 w 9252295"/>
                <a:gd name="connsiteY16" fmla="*/ 1304717 h 2410190"/>
                <a:gd name="connsiteX17" fmla="*/ 6867159 w 9252295"/>
                <a:gd name="connsiteY17" fmla="*/ 1200660 h 2410190"/>
                <a:gd name="connsiteX18" fmla="*/ 6867690 w 9252295"/>
                <a:gd name="connsiteY18" fmla="*/ 1200660 h 2410190"/>
                <a:gd name="connsiteX19" fmla="*/ 6867279 w 9252295"/>
                <a:gd name="connsiteY19" fmla="*/ 1192508 h 2410190"/>
                <a:gd name="connsiteX20" fmla="*/ 8059787 w 9252295"/>
                <a:gd name="connsiteY20" fmla="*/ 0 h 2410190"/>
                <a:gd name="connsiteX21" fmla="*/ 9252295 w 9252295"/>
                <a:gd name="connsiteY21" fmla="*/ 1192508 h 2410190"/>
                <a:gd name="connsiteX22" fmla="*/ 9251964 w 9252295"/>
                <a:gd name="connsiteY22" fmla="*/ 1195794 h 2410190"/>
                <a:gd name="connsiteX23" fmla="*/ 9156913 w 9252295"/>
                <a:gd name="connsiteY23" fmla="*/ 1195794 h 2410190"/>
                <a:gd name="connsiteX24" fmla="*/ 9157244 w 9252295"/>
                <a:gd name="connsiteY24" fmla="*/ 1192508 h 2410190"/>
                <a:gd name="connsiteX25" fmla="*/ 8059787 w 9252295"/>
                <a:gd name="connsiteY25" fmla="*/ 95051 h 2410190"/>
                <a:gd name="connsiteX26" fmla="*/ 6962330 w 9252295"/>
                <a:gd name="connsiteY26" fmla="*/ 1192508 h 2410190"/>
                <a:gd name="connsiteX27" fmla="*/ 6962741 w 9252295"/>
                <a:gd name="connsiteY27" fmla="*/ 1200660 h 2410190"/>
                <a:gd name="connsiteX28" fmla="*/ 6962209 w 9252295"/>
                <a:gd name="connsiteY28" fmla="*/ 1200660 h 2410190"/>
                <a:gd name="connsiteX29" fmla="*/ 6956464 w 9252295"/>
                <a:gd name="connsiteY29" fmla="*/ 1314435 h 2410190"/>
                <a:gd name="connsiteX30" fmla="*/ 5770114 w 9252295"/>
                <a:gd name="connsiteY30" fmla="*/ 2385016 h 2410190"/>
                <a:gd name="connsiteX31" fmla="*/ 4583763 w 9252295"/>
                <a:gd name="connsiteY31" fmla="*/ 1314435 h 2410190"/>
                <a:gd name="connsiteX32" fmla="*/ 4578017 w 9252295"/>
                <a:gd name="connsiteY32" fmla="*/ 1200660 h 2410190"/>
                <a:gd name="connsiteX33" fmla="*/ 4578780 w 9252295"/>
                <a:gd name="connsiteY33" fmla="*/ 1200660 h 2410190"/>
                <a:gd name="connsiteX34" fmla="*/ 4573974 w 9252295"/>
                <a:gd name="connsiteY34" fmla="*/ 1105474 h 2410190"/>
                <a:gd name="connsiteX35" fmla="*/ 3482182 w 9252295"/>
                <a:gd name="connsiteY35" fmla="*/ 120225 h 2410190"/>
                <a:gd name="connsiteX36" fmla="*/ 2390391 w 9252295"/>
                <a:gd name="connsiteY36" fmla="*/ 1105474 h 2410190"/>
                <a:gd name="connsiteX37" fmla="*/ 2385136 w 9252295"/>
                <a:gd name="connsiteY37" fmla="*/ 1209531 h 2410190"/>
                <a:gd name="connsiteX38" fmla="*/ 2384604 w 9252295"/>
                <a:gd name="connsiteY38" fmla="*/ 1209531 h 2410190"/>
                <a:gd name="connsiteX39" fmla="*/ 2385016 w 9252295"/>
                <a:gd name="connsiteY39" fmla="*/ 1217682 h 2410190"/>
                <a:gd name="connsiteX40" fmla="*/ 1192508 w 9252295"/>
                <a:gd name="connsiteY40" fmla="*/ 2410190 h 241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252295" h="2410190">
                  <a:moveTo>
                    <a:pt x="1192508" y="2410190"/>
                  </a:moveTo>
                  <a:cubicBezTo>
                    <a:pt x="533904" y="2410190"/>
                    <a:pt x="0" y="1876286"/>
                    <a:pt x="0" y="1217682"/>
                  </a:cubicBezTo>
                  <a:lnTo>
                    <a:pt x="1107" y="1206703"/>
                  </a:lnTo>
                  <a:lnTo>
                    <a:pt x="96158" y="1206703"/>
                  </a:lnTo>
                  <a:lnTo>
                    <a:pt x="95051" y="1217682"/>
                  </a:lnTo>
                  <a:cubicBezTo>
                    <a:pt x="95051" y="1823791"/>
                    <a:pt x="586400" y="2315139"/>
                    <a:pt x="1192508" y="2315139"/>
                  </a:cubicBezTo>
                  <a:cubicBezTo>
                    <a:pt x="1798616" y="2315139"/>
                    <a:pt x="2289965" y="1823791"/>
                    <a:pt x="2289965" y="1217682"/>
                  </a:cubicBezTo>
                  <a:lnTo>
                    <a:pt x="2289554" y="1209531"/>
                  </a:lnTo>
                  <a:lnTo>
                    <a:pt x="2290085" y="1209531"/>
                  </a:lnTo>
                  <a:lnTo>
                    <a:pt x="2295831" y="1095755"/>
                  </a:lnTo>
                  <a:cubicBezTo>
                    <a:pt x="2356899" y="494427"/>
                    <a:pt x="2864742" y="25174"/>
                    <a:pt x="3482182" y="25174"/>
                  </a:cubicBezTo>
                  <a:cubicBezTo>
                    <a:pt x="4099623" y="25174"/>
                    <a:pt x="4607465" y="494427"/>
                    <a:pt x="4668533" y="1095755"/>
                  </a:cubicBezTo>
                  <a:lnTo>
                    <a:pt x="4674278" y="1209531"/>
                  </a:lnTo>
                  <a:lnTo>
                    <a:pt x="4673516" y="1209531"/>
                  </a:lnTo>
                  <a:lnTo>
                    <a:pt x="4678322" y="1304717"/>
                  </a:lnTo>
                  <a:cubicBezTo>
                    <a:pt x="4734523" y="1858116"/>
                    <a:pt x="5201886" y="2289966"/>
                    <a:pt x="5770114" y="2289966"/>
                  </a:cubicBezTo>
                  <a:cubicBezTo>
                    <a:pt x="6338340" y="2289966"/>
                    <a:pt x="6805704" y="1858116"/>
                    <a:pt x="6861904" y="1304717"/>
                  </a:cubicBezTo>
                  <a:lnTo>
                    <a:pt x="6867159" y="1200660"/>
                  </a:lnTo>
                  <a:lnTo>
                    <a:pt x="6867690" y="1200660"/>
                  </a:lnTo>
                  <a:lnTo>
                    <a:pt x="6867279" y="1192508"/>
                  </a:lnTo>
                  <a:cubicBezTo>
                    <a:pt x="6867279" y="533905"/>
                    <a:pt x="7401183" y="0"/>
                    <a:pt x="8059787" y="0"/>
                  </a:cubicBezTo>
                  <a:cubicBezTo>
                    <a:pt x="8718390" y="0"/>
                    <a:pt x="9252295" y="533905"/>
                    <a:pt x="9252295" y="1192508"/>
                  </a:cubicBezTo>
                  <a:lnTo>
                    <a:pt x="9251964" y="1195794"/>
                  </a:lnTo>
                  <a:lnTo>
                    <a:pt x="9156913" y="1195794"/>
                  </a:lnTo>
                  <a:lnTo>
                    <a:pt x="9157244" y="1192508"/>
                  </a:lnTo>
                  <a:cubicBezTo>
                    <a:pt x="9157244" y="586400"/>
                    <a:pt x="8665895" y="95051"/>
                    <a:pt x="8059787" y="95051"/>
                  </a:cubicBezTo>
                  <a:cubicBezTo>
                    <a:pt x="7453679" y="95051"/>
                    <a:pt x="6962330" y="586400"/>
                    <a:pt x="6962330" y="1192508"/>
                  </a:cubicBezTo>
                  <a:lnTo>
                    <a:pt x="6962741" y="1200660"/>
                  </a:lnTo>
                  <a:lnTo>
                    <a:pt x="6962209" y="1200660"/>
                  </a:lnTo>
                  <a:lnTo>
                    <a:pt x="6956464" y="1314435"/>
                  </a:lnTo>
                  <a:cubicBezTo>
                    <a:pt x="6895396" y="1915764"/>
                    <a:pt x="6387554" y="2385016"/>
                    <a:pt x="5770114" y="2385016"/>
                  </a:cubicBezTo>
                  <a:cubicBezTo>
                    <a:pt x="5152672" y="2385016"/>
                    <a:pt x="4644831" y="1915764"/>
                    <a:pt x="4583763" y="1314435"/>
                  </a:cubicBezTo>
                  <a:lnTo>
                    <a:pt x="4578017" y="1200660"/>
                  </a:lnTo>
                  <a:lnTo>
                    <a:pt x="4578780" y="1200660"/>
                  </a:lnTo>
                  <a:lnTo>
                    <a:pt x="4573974" y="1105474"/>
                  </a:lnTo>
                  <a:cubicBezTo>
                    <a:pt x="4517772" y="552075"/>
                    <a:pt x="4050409" y="120225"/>
                    <a:pt x="3482182" y="120225"/>
                  </a:cubicBezTo>
                  <a:cubicBezTo>
                    <a:pt x="2913956" y="120225"/>
                    <a:pt x="2446592" y="552075"/>
                    <a:pt x="2390391" y="1105474"/>
                  </a:cubicBezTo>
                  <a:lnTo>
                    <a:pt x="2385136" y="1209531"/>
                  </a:lnTo>
                  <a:lnTo>
                    <a:pt x="2384604" y="1209531"/>
                  </a:lnTo>
                  <a:lnTo>
                    <a:pt x="2385016" y="1217682"/>
                  </a:lnTo>
                  <a:cubicBezTo>
                    <a:pt x="2385016" y="1876286"/>
                    <a:pt x="1851111" y="2410190"/>
                    <a:pt x="1192508" y="2410190"/>
                  </a:cubicBezTo>
                  <a:close/>
                </a:path>
              </a:pathLst>
            </a:custGeom>
            <a:gradFill flip="none" rotWithShape="1">
              <a:gsLst>
                <a:gs pos="61000">
                  <a:schemeClr val="accent6"/>
                </a:gs>
                <a:gs pos="39000">
                  <a:schemeClr val="accent5"/>
                </a:gs>
                <a:gs pos="18000">
                  <a:schemeClr val="accent4"/>
                </a:gs>
                <a:gs pos="92000">
                  <a:schemeClr val="accent3"/>
                </a:gs>
              </a:gsLst>
              <a:lin ang="10800000" scaled="0"/>
              <a:tileRect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4000" dirty="0">
                <a:solidFill>
                  <a:schemeClr val="accent2"/>
                </a:solidFill>
              </a:endParaRPr>
            </a:p>
          </p:txBody>
        </p:sp>
        <p:sp>
          <p:nvSpPr>
            <p:cNvPr id="9" name="Oval 8" descr="timeline endpoints">
              <a:extLst>
                <a:ext uri="{FF2B5EF4-FFF2-40B4-BE49-F238E27FC236}">
                  <a16:creationId xmlns:a16="http://schemas.microsoft.com/office/drawing/2014/main" id="{FD500365-FF2B-BD97-E160-2EE37926D791}"/>
                </a:ext>
              </a:extLst>
            </p:cNvPr>
            <p:cNvSpPr/>
            <p:nvPr/>
          </p:nvSpPr>
          <p:spPr>
            <a:xfrm>
              <a:off x="1320120" y="3149771"/>
              <a:ext cx="218092" cy="218092"/>
            </a:xfrm>
            <a:prstGeom prst="ellipse">
              <a:avLst/>
            </a:prstGeom>
            <a:solidFill>
              <a:schemeClr val="accent4"/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 descr="timeline endpoints">
              <a:extLst>
                <a:ext uri="{FF2B5EF4-FFF2-40B4-BE49-F238E27FC236}">
                  <a16:creationId xmlns:a16="http://schemas.microsoft.com/office/drawing/2014/main" id="{34C8CF17-1B0C-28D1-6E4D-5187FFFDCE2D}"/>
                </a:ext>
              </a:extLst>
            </p:cNvPr>
            <p:cNvSpPr/>
            <p:nvPr/>
          </p:nvSpPr>
          <p:spPr>
            <a:xfrm>
              <a:off x="10480529" y="3149771"/>
              <a:ext cx="218092" cy="218092"/>
            </a:xfrm>
            <a:prstGeom prst="ellipse">
              <a:avLst/>
            </a:prstGeom>
            <a:solidFill>
              <a:schemeClr val="accent3"/>
            </a:solidFill>
            <a:ln w="762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20A472"/>
                </a:solidFill>
              </a:endParaRPr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8AC32E-428F-9A0A-3195-B3423A2C93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80355" y="2660943"/>
            <a:ext cx="1161288" cy="1161288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3200" cap="all" baseline="0">
                <a:solidFill>
                  <a:schemeClr val="accent4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dirty="0"/>
              <a:t>Q1</a:t>
            </a:r>
          </a:p>
        </p:txBody>
      </p:sp>
      <p:sp>
        <p:nvSpPr>
          <p:cNvPr id="18" name="Text Placeholder 48">
            <a:extLst>
              <a:ext uri="{FF2B5EF4-FFF2-40B4-BE49-F238E27FC236}">
                <a16:creationId xmlns:a16="http://schemas.microsoft.com/office/drawing/2014/main" id="{D127D48E-3E09-48C7-AB33-FBD643EFA5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23914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9" name="Text Placeholder 50">
            <a:extLst>
              <a:ext uri="{FF2B5EF4-FFF2-40B4-BE49-F238E27FC236}">
                <a16:creationId xmlns:a16="http://schemas.microsoft.com/office/drawing/2014/main" id="{A1B91BF4-B790-4F67-98EB-FE905527BF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3914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8A1666A-610A-35B4-038A-027C26F293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9505" y="2660943"/>
            <a:ext cx="1161288" cy="1161288"/>
          </a:xfrm>
          <a:prstGeom prst="ellipse">
            <a:avLst/>
          </a:prstGeom>
          <a:ln w="38100">
            <a:solidFill>
              <a:schemeClr val="accent5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3200" cap="all" baseline="0">
                <a:solidFill>
                  <a:schemeClr val="accent5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dirty="0"/>
              <a:t>Q2</a:t>
            </a:r>
          </a:p>
        </p:txBody>
      </p:sp>
      <p:sp>
        <p:nvSpPr>
          <p:cNvPr id="20" name="Text Placeholder 48">
            <a:extLst>
              <a:ext uri="{FF2B5EF4-FFF2-40B4-BE49-F238E27FC236}">
                <a16:creationId xmlns:a16="http://schemas.microsoft.com/office/drawing/2014/main" id="{CCA5F33F-1634-427F-92BF-99A5ED52A4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34076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1" name="Text Placeholder 50">
            <a:extLst>
              <a:ext uri="{FF2B5EF4-FFF2-40B4-BE49-F238E27FC236}">
                <a16:creationId xmlns:a16="http://schemas.microsoft.com/office/drawing/2014/main" id="{084F28D2-C99C-44DC-95CF-A18847F3B6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34076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3FDDA6AC-3BDE-259D-EBBE-6A7B12A217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8655" y="2660943"/>
            <a:ext cx="1161288" cy="1161288"/>
          </a:xfrm>
          <a:prstGeom prst="ellipse">
            <a:avLst/>
          </a:prstGeom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3200" cap="all" baseline="0">
                <a:solidFill>
                  <a:schemeClr val="accent6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dirty="0"/>
              <a:t>Q3</a:t>
            </a:r>
          </a:p>
        </p:txBody>
      </p:sp>
      <p:sp>
        <p:nvSpPr>
          <p:cNvPr id="22" name="Text Placeholder 48">
            <a:extLst>
              <a:ext uri="{FF2B5EF4-FFF2-40B4-BE49-F238E27FC236}">
                <a16:creationId xmlns:a16="http://schemas.microsoft.com/office/drawing/2014/main" id="{2402522A-E098-4FB5-B454-D6FC98D90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44238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50">
            <a:extLst>
              <a:ext uri="{FF2B5EF4-FFF2-40B4-BE49-F238E27FC236}">
                <a16:creationId xmlns:a16="http://schemas.microsoft.com/office/drawing/2014/main" id="{18CF51EA-CDE2-4AA1-83CB-9DC6E212C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44238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DFBC172-3AC7-02D5-403B-5AB8BAB349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77805" y="2644842"/>
            <a:ext cx="1161288" cy="1161288"/>
          </a:xfrm>
          <a:prstGeom prst="ellipse">
            <a:avLst/>
          </a:prstGeom>
          <a:ln w="38100">
            <a:solidFill>
              <a:schemeClr val="accent3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3200" cap="all" baseline="0">
                <a:solidFill>
                  <a:schemeClr val="accent3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dirty="0"/>
              <a:t>Q4</a:t>
            </a:r>
          </a:p>
        </p:txBody>
      </p:sp>
      <p:sp>
        <p:nvSpPr>
          <p:cNvPr id="24" name="Text Placeholder 48">
            <a:extLst>
              <a:ext uri="{FF2B5EF4-FFF2-40B4-BE49-F238E27FC236}">
                <a16:creationId xmlns:a16="http://schemas.microsoft.com/office/drawing/2014/main" id="{FE2BFCE7-D8D1-42B7-97F2-78B1D2CB5F8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54400" y="4817717"/>
            <a:ext cx="1796396" cy="302186"/>
          </a:xfrm>
        </p:spPr>
        <p:txBody>
          <a:bodyPr>
            <a:noAutofit/>
          </a:bodyPr>
          <a:lstStyle>
            <a:lvl1pPr marL="0" indent="0">
              <a:buNone/>
              <a:defRPr sz="20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5" name="Text Placeholder 50">
            <a:extLst>
              <a:ext uri="{FF2B5EF4-FFF2-40B4-BE49-F238E27FC236}">
                <a16:creationId xmlns:a16="http://schemas.microsoft.com/office/drawing/2014/main" id="{0C4E8DE7-5691-4470-BC2C-F9F6532248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54400" y="5210963"/>
            <a:ext cx="1813567" cy="7064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26055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  <p15:guide id="2" pos="3840">
          <p15:clr>
            <a:srgbClr val="FBAE40"/>
          </p15:clr>
        </p15:guide>
        <p15:guide id="3" pos="5760">
          <p15:clr>
            <a:srgbClr val="FBAE40"/>
          </p15:clr>
        </p15:guide>
        <p15:guide id="4" pos="3984">
          <p15:clr>
            <a:srgbClr val="5ACBF0"/>
          </p15:clr>
        </p15:guide>
        <p15:guide id="5" pos="3696">
          <p15:clr>
            <a:srgbClr val="5ACBF0"/>
          </p15:clr>
        </p15:guide>
        <p15:guide id="6" pos="2064">
          <p15:clr>
            <a:srgbClr val="5ACBF0"/>
          </p15:clr>
        </p15:guide>
        <p15:guide id="7" pos="1776">
          <p15:clr>
            <a:srgbClr val="5ACBF0"/>
          </p15:clr>
        </p15:guide>
        <p15:guide id="8" pos="5616">
          <p15:clr>
            <a:srgbClr val="5ACBF0"/>
          </p15:clr>
        </p15:guide>
        <p15:guide id="9" pos="5904">
          <p15:clr>
            <a:srgbClr val="5ACBF0"/>
          </p15:clr>
        </p15:guide>
        <p15:guide id="10" pos="144">
          <p15:clr>
            <a:srgbClr val="5ACBF0"/>
          </p15:clr>
        </p15:guide>
        <p15:guide id="11" orient="horz" pos="4176">
          <p15:clr>
            <a:srgbClr val="5ACBF0"/>
          </p15:clr>
        </p15:guide>
        <p15:guide id="12" pos="7536">
          <p15:clr>
            <a:srgbClr val="5ACBF0"/>
          </p15:clr>
        </p15:guide>
        <p15:guide id="13" orient="horz" pos="14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1445678-5922-0D9E-6854-34CDDF535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50" y="1460413"/>
            <a:ext cx="12185650" cy="5364163"/>
            <a:chOff x="6350" y="1460413"/>
            <a:chExt cx="12185650" cy="5364163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FBB3930-65BE-C67D-75F8-C29BCAC0BC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350" y="1460413"/>
              <a:ext cx="12185650" cy="4523556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66A9694-6EC0-EF34-47E7-7D6882C8644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r="2854"/>
            <a:stretch/>
          </p:blipFill>
          <p:spPr>
            <a:xfrm>
              <a:off x="1385366" y="1933400"/>
              <a:ext cx="10800284" cy="4891176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286A7E-ECC6-8B64-7478-CBE43FBDAA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38200" y="311861"/>
            <a:ext cx="10515600" cy="958251"/>
          </a:xfrm>
        </p:spPr>
        <p:txBody>
          <a:bodyPr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noProof="0" dirty="0"/>
              <a:t>Add title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C5FDC83-F05F-E2CC-B26D-0B062CC4997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9175" y="3754892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en-US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/>
            <a:r>
              <a:rPr lang="en-US" noProof="0" dirty="0"/>
              <a:t>ADD TEXT</a:t>
            </a:r>
          </a:p>
        </p:txBody>
      </p:sp>
      <p:sp>
        <p:nvSpPr>
          <p:cNvPr id="102" name="Text Placeholder 97">
            <a:extLst>
              <a:ext uri="{FF2B5EF4-FFF2-40B4-BE49-F238E27FC236}">
                <a16:creationId xmlns:a16="http://schemas.microsoft.com/office/drawing/2014/main" id="{9A27C53F-0D89-34D4-E4E8-175EBF1A1B73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390035" y="3477320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86" name="Text Placeholder 61">
            <a:extLst>
              <a:ext uri="{FF2B5EF4-FFF2-40B4-BE49-F238E27FC236}">
                <a16:creationId xmlns:a16="http://schemas.microsoft.com/office/drawing/2014/main" id="{D33323FB-3657-DBF3-C660-8E53E914CD76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47719" y="4379822"/>
            <a:ext cx="1280160" cy="481857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87" name="Text Placeholder 63">
            <a:extLst>
              <a:ext uri="{FF2B5EF4-FFF2-40B4-BE49-F238E27FC236}">
                <a16:creationId xmlns:a16="http://schemas.microsoft.com/office/drawing/2014/main" id="{EFB7B0D0-66A4-7017-E2C8-BFD66BD3AE13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47719" y="4867503"/>
            <a:ext cx="1280160" cy="206582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42DFC3-40E7-73B0-2933-4E601A023BFC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1986839" y="1689617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en-US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/>
            <a:r>
              <a:rPr lang="en-US" noProof="0" dirty="0"/>
              <a:t>ADD TEXT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ACF76DF4-511E-BCAD-24AA-1917D189318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56264" y="2304732"/>
            <a:ext cx="1280160" cy="481857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0844B068-8969-6321-4DD3-4767642367E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56264" y="2792413"/>
            <a:ext cx="1280160" cy="206582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99" name="Text Placeholder 97">
            <a:extLst>
              <a:ext uri="{FF2B5EF4-FFF2-40B4-BE49-F238E27FC236}">
                <a16:creationId xmlns:a16="http://schemas.microsoft.com/office/drawing/2014/main" id="{DB29BEEB-8FD5-5346-B82F-8EAB6A747A29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3280120" y="2964580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66" name="Text Placeholder 5">
            <a:extLst>
              <a:ext uri="{FF2B5EF4-FFF2-40B4-BE49-F238E27FC236}">
                <a16:creationId xmlns:a16="http://schemas.microsoft.com/office/drawing/2014/main" id="{85454582-ABBD-4964-8715-1EF2DFC1686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159315" y="2413336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en-US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/>
            <a:r>
              <a:rPr lang="en-US" noProof="0" dirty="0"/>
              <a:t>ADD TEXT</a:t>
            </a:r>
          </a:p>
        </p:txBody>
      </p:sp>
      <p:sp>
        <p:nvSpPr>
          <p:cNvPr id="100" name="Text Placeholder 97">
            <a:extLst>
              <a:ext uri="{FF2B5EF4-FFF2-40B4-BE49-F238E27FC236}">
                <a16:creationId xmlns:a16="http://schemas.microsoft.com/office/drawing/2014/main" id="{28877613-41C4-9119-BE28-5CAB258BF276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5450164" y="2104356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69" name="Text Placeholder 61">
            <a:extLst>
              <a:ext uri="{FF2B5EF4-FFF2-40B4-BE49-F238E27FC236}">
                <a16:creationId xmlns:a16="http://schemas.microsoft.com/office/drawing/2014/main" id="{294539E2-59EE-DB6B-BA2A-518DE97D114B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37915" y="3081612"/>
            <a:ext cx="1277962" cy="475432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70" name="Text Placeholder 63">
            <a:extLst>
              <a:ext uri="{FF2B5EF4-FFF2-40B4-BE49-F238E27FC236}">
                <a16:creationId xmlns:a16="http://schemas.microsoft.com/office/drawing/2014/main" id="{26761B70-9720-A91A-9DE8-C71BB40499A4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337915" y="3554052"/>
            <a:ext cx="1277962" cy="206582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FCE8B2AA-C2E9-5F8D-0EF1-A36A1966D2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772029" y="4868331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en-US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/>
            <a:r>
              <a:rPr lang="en-US" noProof="0" dirty="0"/>
              <a:t>ADD TEXT</a:t>
            </a:r>
          </a:p>
        </p:txBody>
      </p:sp>
      <p:sp>
        <p:nvSpPr>
          <p:cNvPr id="103" name="Text Placeholder 97">
            <a:extLst>
              <a:ext uri="{FF2B5EF4-FFF2-40B4-BE49-F238E27FC236}">
                <a16:creationId xmlns:a16="http://schemas.microsoft.com/office/drawing/2014/main" id="{616D4056-5F98-5D42-8A8D-08560626E145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4070799" y="4546839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89" name="Text Placeholder 61">
            <a:extLst>
              <a:ext uri="{FF2B5EF4-FFF2-40B4-BE49-F238E27FC236}">
                <a16:creationId xmlns:a16="http://schemas.microsoft.com/office/drawing/2014/main" id="{4F02E3FC-A398-A3E3-0ECA-A8A1C61ED4DA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2943701" y="5465548"/>
            <a:ext cx="1280160" cy="481857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90" name="Text Placeholder 63">
            <a:extLst>
              <a:ext uri="{FF2B5EF4-FFF2-40B4-BE49-F238E27FC236}">
                <a16:creationId xmlns:a16="http://schemas.microsoft.com/office/drawing/2014/main" id="{AF627030-2DCF-9DA1-DB4E-EC8AA8265BEC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2943701" y="5953229"/>
            <a:ext cx="1280160" cy="206582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C4AF0805-0FC2-7B09-EA4F-BF7CE80CE69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697529" y="4598571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en-US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/>
            <a:r>
              <a:rPr lang="en-US" noProof="0" dirty="0"/>
              <a:t>ADD TEXT</a:t>
            </a:r>
          </a:p>
        </p:txBody>
      </p:sp>
      <p:sp>
        <p:nvSpPr>
          <p:cNvPr id="92" name="Text Placeholder 61">
            <a:extLst>
              <a:ext uri="{FF2B5EF4-FFF2-40B4-BE49-F238E27FC236}">
                <a16:creationId xmlns:a16="http://schemas.microsoft.com/office/drawing/2014/main" id="{11CD16D6-010B-3E00-E346-C449BE8A103F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5840980" y="5211225"/>
            <a:ext cx="1348182" cy="481857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93" name="Text Placeholder 63">
            <a:extLst>
              <a:ext uri="{FF2B5EF4-FFF2-40B4-BE49-F238E27FC236}">
                <a16:creationId xmlns:a16="http://schemas.microsoft.com/office/drawing/2014/main" id="{60EAE46B-6724-AB6B-191E-6CCB8917DA7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5840980" y="5698906"/>
            <a:ext cx="1348182" cy="206582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107" name="Text Placeholder 97">
            <a:extLst>
              <a:ext uri="{FF2B5EF4-FFF2-40B4-BE49-F238E27FC236}">
                <a16:creationId xmlns:a16="http://schemas.microsoft.com/office/drawing/2014/main" id="{C668B3C1-868A-2098-CD67-28AEB3250032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6971098" y="5809913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4BB22A85-B877-39A1-C018-64A3FEDCCC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456687" y="1620863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en-US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/>
            <a:r>
              <a:rPr lang="en-US" noProof="0" dirty="0"/>
              <a:t>ADD TEXT</a:t>
            </a:r>
          </a:p>
        </p:txBody>
      </p:sp>
      <p:sp>
        <p:nvSpPr>
          <p:cNvPr id="72" name="Text Placeholder 61">
            <a:extLst>
              <a:ext uri="{FF2B5EF4-FFF2-40B4-BE49-F238E27FC236}">
                <a16:creationId xmlns:a16="http://schemas.microsoft.com/office/drawing/2014/main" id="{6CEEACE9-8EE4-FC32-AF27-4B73BC93D379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631548" y="2244785"/>
            <a:ext cx="1280160" cy="475432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73" name="Text Placeholder 63">
            <a:extLst>
              <a:ext uri="{FF2B5EF4-FFF2-40B4-BE49-F238E27FC236}">
                <a16:creationId xmlns:a16="http://schemas.microsoft.com/office/drawing/2014/main" id="{BB7F9FF1-7617-3B39-E510-593E236FBA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631548" y="2717225"/>
            <a:ext cx="1280160" cy="206582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104" name="Text Placeholder 97">
            <a:extLst>
              <a:ext uri="{FF2B5EF4-FFF2-40B4-BE49-F238E27FC236}">
                <a16:creationId xmlns:a16="http://schemas.microsoft.com/office/drawing/2014/main" id="{0CD90A5F-4D3D-6BB1-B8CE-765DCC95EC90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7748705" y="2909287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82F7A4E9-C42A-A2A2-A151-F766779E396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36399" y="4614369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en-US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/>
            <a:r>
              <a:rPr lang="en-US" noProof="0" dirty="0"/>
              <a:t>ADD TEXT</a:t>
            </a:r>
          </a:p>
        </p:txBody>
      </p:sp>
      <p:sp>
        <p:nvSpPr>
          <p:cNvPr id="106" name="Text Placeholder 97">
            <a:extLst>
              <a:ext uri="{FF2B5EF4-FFF2-40B4-BE49-F238E27FC236}">
                <a16:creationId xmlns:a16="http://schemas.microsoft.com/office/drawing/2014/main" id="{51E633B7-1E95-92E2-7DDC-9A7B9E70B756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9479259" y="4328031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95" name="Text Placeholder 61">
            <a:extLst>
              <a:ext uri="{FF2B5EF4-FFF2-40B4-BE49-F238E27FC236}">
                <a16:creationId xmlns:a16="http://schemas.microsoft.com/office/drawing/2014/main" id="{5FCDC069-8B0F-C8F3-14E9-43A09900CB95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8361036" y="5369722"/>
            <a:ext cx="1378359" cy="481857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96" name="Text Placeholder 63">
            <a:extLst>
              <a:ext uri="{FF2B5EF4-FFF2-40B4-BE49-F238E27FC236}">
                <a16:creationId xmlns:a16="http://schemas.microsoft.com/office/drawing/2014/main" id="{CCA209C9-0DFE-4936-4192-BC3D167ABED8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8361036" y="5857403"/>
            <a:ext cx="1378359" cy="206582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89D6F33A-39E4-F20B-73C8-F48B2A375F8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42443" y="2600480"/>
            <a:ext cx="1627632" cy="1618488"/>
          </a:xfrm>
          <a:prstGeom prst="roundRect">
            <a:avLst>
              <a:gd name="adj" fmla="val 17457"/>
            </a:avLst>
          </a:prstGeom>
          <a:solidFill>
            <a:schemeClr val="bg1"/>
          </a:solidFill>
          <a:ln w="444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73736" rtlCol="0" anchor="t">
            <a:noAutofit/>
          </a:bodyPr>
          <a:lstStyle>
            <a:lvl1pPr marL="0" indent="0" algn="ctr">
              <a:buNone/>
              <a:defRPr lang="en-US" sz="1800" b="1" cap="all" baseline="0" dirty="0">
                <a:solidFill>
                  <a:sysClr val="windowText" lastClr="000000"/>
                </a:solidFill>
              </a:defRPr>
            </a:lvl1pPr>
          </a:lstStyle>
          <a:p>
            <a:pPr marL="0" lvl="0" algn="ctr"/>
            <a:r>
              <a:rPr lang="en-US" noProof="0" dirty="0"/>
              <a:t>ADD TEXT</a:t>
            </a:r>
          </a:p>
        </p:txBody>
      </p:sp>
      <p:sp>
        <p:nvSpPr>
          <p:cNvPr id="105" name="Text Placeholder 97">
            <a:extLst>
              <a:ext uri="{FF2B5EF4-FFF2-40B4-BE49-F238E27FC236}">
                <a16:creationId xmlns:a16="http://schemas.microsoft.com/office/drawing/2014/main" id="{BC978A5E-BA57-D579-B645-8427AD22EA44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0752251" y="2307353"/>
            <a:ext cx="630936" cy="630936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44450">
            <a:solidFill>
              <a:schemeClr val="tx1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n w="0">
                  <a:noFill/>
                </a:ln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800"/>
            </a:lvl3pPr>
            <a:lvl4pPr marL="1371600" indent="0">
              <a:buNone/>
              <a:defRPr sz="2800"/>
            </a:lvl4pPr>
            <a:lvl5pPr marL="1828800" indent="0">
              <a:buNone/>
              <a:defRPr sz="2800"/>
            </a:lvl5pPr>
          </a:lstStyle>
          <a:p>
            <a:pPr lvl="0"/>
            <a:r>
              <a:rPr lang="en-US" noProof="0" dirty="0"/>
              <a:t>#</a:t>
            </a:r>
          </a:p>
        </p:txBody>
      </p:sp>
      <p:sp>
        <p:nvSpPr>
          <p:cNvPr id="75" name="Text Placeholder 61">
            <a:extLst>
              <a:ext uri="{FF2B5EF4-FFF2-40B4-BE49-F238E27FC236}">
                <a16:creationId xmlns:a16="http://schemas.microsoft.com/office/drawing/2014/main" id="{B6F832EC-808B-6975-C6A4-504CA92D4C2B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9609126" y="3233383"/>
            <a:ext cx="1280160" cy="475432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sp>
        <p:nvSpPr>
          <p:cNvPr id="76" name="Text Placeholder 63">
            <a:extLst>
              <a:ext uri="{FF2B5EF4-FFF2-40B4-BE49-F238E27FC236}">
                <a16:creationId xmlns:a16="http://schemas.microsoft.com/office/drawing/2014/main" id="{133A3E42-95A8-F5D9-0568-81B074FC5EBA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609126" y="3705823"/>
            <a:ext cx="1280160" cy="206582"/>
          </a:xfrm>
        </p:spPr>
        <p:txBody>
          <a:bodyPr lIns="0" tIns="0" rIns="0">
            <a:noAutofit/>
          </a:bodyPr>
          <a:lstStyle>
            <a:lvl1pPr marL="0" indent="0" algn="ctr">
              <a:buNone/>
              <a:defRPr sz="10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2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en-US" noProof="0" dirty="0"/>
              <a:t>Add text here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DF54CD3-BB3E-E782-CD8E-51009C4C9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4788" y="2454293"/>
            <a:ext cx="952774" cy="952774"/>
            <a:chOff x="1439932" y="5704678"/>
            <a:chExt cx="528220" cy="528220"/>
          </a:xfrm>
        </p:grpSpPr>
        <p:sp>
          <p:nvSpPr>
            <p:cNvPr id="112" name="Rounded Rectangle 22">
              <a:extLst>
                <a:ext uri="{FF2B5EF4-FFF2-40B4-BE49-F238E27FC236}">
                  <a16:creationId xmlns:a16="http://schemas.microsoft.com/office/drawing/2014/main" id="{AF537999-FC7A-D972-3F60-688A6E291ABB}"/>
                </a:ext>
              </a:extLst>
            </p:cNvPr>
            <p:cNvSpPr/>
            <p:nvPr/>
          </p:nvSpPr>
          <p:spPr>
            <a:xfrm>
              <a:off x="1584325" y="5946775"/>
              <a:ext cx="231775" cy="25717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113" name="Graphic 112" descr="Beaker outline">
              <a:extLst>
                <a:ext uri="{FF2B5EF4-FFF2-40B4-BE49-F238E27FC236}">
                  <a16:creationId xmlns:a16="http://schemas.microsoft.com/office/drawing/2014/main" id="{0B68F278-EA7A-A028-E6FE-49BCB80C0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39932" y="5704678"/>
              <a:ext cx="528220" cy="52822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472485-8431-4413-76EE-E60ECE8C4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664150" y="3684053"/>
            <a:ext cx="952774" cy="952774"/>
            <a:chOff x="2951231" y="3465853"/>
            <a:chExt cx="528220" cy="528220"/>
          </a:xfrm>
        </p:grpSpPr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E67F9920-7336-E2C5-FDBA-ED51BB31268E}"/>
                </a:ext>
              </a:extLst>
            </p:cNvPr>
            <p:cNvSpPr/>
            <p:nvPr/>
          </p:nvSpPr>
          <p:spPr>
            <a:xfrm>
              <a:off x="3117064" y="3719958"/>
              <a:ext cx="196553" cy="24110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27" name="Graphic 26" descr="Flask outline">
              <a:extLst>
                <a:ext uri="{FF2B5EF4-FFF2-40B4-BE49-F238E27FC236}">
                  <a16:creationId xmlns:a16="http://schemas.microsoft.com/office/drawing/2014/main" id="{F4815F2C-6ED5-865C-6B4B-80AFD725C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51231" y="3465853"/>
              <a:ext cx="528220" cy="52822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1EE792B-79B1-50C3-343A-E3F4D5402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38315" y="1480066"/>
            <a:ext cx="952774" cy="952774"/>
            <a:chOff x="4289303" y="1663393"/>
            <a:chExt cx="528220" cy="528220"/>
          </a:xfrm>
        </p:grpSpPr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F8552807-4426-A927-ECE6-5AC796EC0C35}"/>
                </a:ext>
              </a:extLst>
            </p:cNvPr>
            <p:cNvSpPr/>
            <p:nvPr/>
          </p:nvSpPr>
          <p:spPr>
            <a:xfrm>
              <a:off x="4413250" y="1775103"/>
              <a:ext cx="174625" cy="146050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30" name="Graphic 29" descr="Mountains outline">
              <a:extLst>
                <a:ext uri="{FF2B5EF4-FFF2-40B4-BE49-F238E27FC236}">
                  <a16:creationId xmlns:a16="http://schemas.microsoft.com/office/drawing/2014/main" id="{DAB608FC-C0B8-B163-AE89-433F36BD1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89303" y="1663393"/>
              <a:ext cx="528220" cy="52822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99B50B6-EFD7-4DFA-6C2D-453341A8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622277" y="5047462"/>
            <a:ext cx="805762" cy="805762"/>
            <a:chOff x="4622277" y="5047462"/>
            <a:chExt cx="805762" cy="805762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5628EA7-1F58-28ED-D2BF-911EDFF9C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682503" y="5096114"/>
              <a:ext cx="708759" cy="70875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4B798C8-1467-0056-A809-6782DE79A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4622277" y="5047462"/>
              <a:ext cx="805762" cy="805762"/>
              <a:chOff x="4754023" y="5074814"/>
              <a:chExt cx="528220" cy="5282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B213240-4F8D-98CD-565D-2EC9BEDADC1B}"/>
                  </a:ext>
                </a:extLst>
              </p:cNvPr>
              <p:cNvSpPr/>
              <p:nvPr/>
            </p:nvSpPr>
            <p:spPr>
              <a:xfrm>
                <a:off x="4997450" y="5334000"/>
                <a:ext cx="47625" cy="476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1" name="Graphic 20" descr="Stopwatch 50% outline">
                <a:extLst>
                  <a:ext uri="{FF2B5EF4-FFF2-40B4-BE49-F238E27FC236}">
                    <a16:creationId xmlns:a16="http://schemas.microsoft.com/office/drawing/2014/main" id="{46885AC9-7CD3-8BC1-E57A-61B4E8C1E1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754023" y="5074814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3C61C0D-B53E-B284-0E62-9A7696BD9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61140" y="3547070"/>
            <a:ext cx="952774" cy="991627"/>
            <a:chOff x="6561140" y="3547070"/>
            <a:chExt cx="952774" cy="991627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ED6A410-8C78-CE05-2EF9-C9A68C64C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681053" y="3547070"/>
              <a:ext cx="708759" cy="70875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BA5654A-7FC5-4977-C6AD-476320F5D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6561140" y="3585923"/>
              <a:ext cx="952774" cy="952774"/>
              <a:chOff x="6747063" y="4036055"/>
              <a:chExt cx="528220" cy="528220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C21946C9-9EAF-4B63-599A-FC4E42672D69}"/>
                  </a:ext>
                </a:extLst>
              </p:cNvPr>
              <p:cNvSpPr/>
              <p:nvPr/>
            </p:nvSpPr>
            <p:spPr>
              <a:xfrm>
                <a:off x="6943725" y="4137025"/>
                <a:ext cx="139700" cy="1524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7" name="Graphic 16" descr="Astronaut male outline">
                <a:extLst>
                  <a:ext uri="{FF2B5EF4-FFF2-40B4-BE49-F238E27FC236}">
                    <a16:creationId xmlns:a16="http://schemas.microsoft.com/office/drawing/2014/main" id="{669C584F-84D8-2E01-04A5-78685124A4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747063" y="4036055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149857E-2F60-360F-AF5E-6E21997C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989572" y="1815518"/>
            <a:ext cx="952774" cy="1002186"/>
            <a:chOff x="7989572" y="1815518"/>
            <a:chExt cx="952774" cy="1002186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7A2D96D-82E4-1EE2-0409-4CDEBEA41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156791" y="1815518"/>
              <a:ext cx="549989" cy="95277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251065B-A02E-6D16-E39C-A8CDAB727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989572" y="1864930"/>
              <a:ext cx="952774" cy="952774"/>
              <a:chOff x="8184330" y="2237414"/>
              <a:chExt cx="528220" cy="528220"/>
            </a:xfrm>
          </p:grpSpPr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0E3875A7-721F-9D93-6152-34CD9E51E351}"/>
                  </a:ext>
                </a:extLst>
              </p:cNvPr>
              <p:cNvSpPr/>
              <p:nvPr/>
            </p:nvSpPr>
            <p:spPr>
              <a:xfrm>
                <a:off x="8375754" y="2552075"/>
                <a:ext cx="146154" cy="1086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43" name="Graphic 42" descr="Fluorescent Light Blub outline">
                <a:extLst>
                  <a:ext uri="{FF2B5EF4-FFF2-40B4-BE49-F238E27FC236}">
                    <a16:creationId xmlns:a16="http://schemas.microsoft.com/office/drawing/2014/main" id="{AAAAD4CF-FEF8-CD94-C24A-F58B69EA74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184330" y="2237414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BAAFE76-32E1-9AFA-B10F-10B6FF9B1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40613" y="1492493"/>
            <a:ext cx="952774" cy="952774"/>
            <a:chOff x="11298880" y="3198881"/>
            <a:chExt cx="528220" cy="528220"/>
          </a:xfrm>
        </p:grpSpPr>
        <p:sp>
          <p:nvSpPr>
            <p:cNvPr id="37" name="Triangle 36">
              <a:extLst>
                <a:ext uri="{FF2B5EF4-FFF2-40B4-BE49-F238E27FC236}">
                  <a16:creationId xmlns:a16="http://schemas.microsoft.com/office/drawing/2014/main" id="{7EC20B07-2082-1525-F73C-72C3AEFD7AEF}"/>
                </a:ext>
              </a:extLst>
            </p:cNvPr>
            <p:cNvSpPr/>
            <p:nvPr/>
          </p:nvSpPr>
          <p:spPr>
            <a:xfrm rot="2647120">
              <a:off x="11709901" y="3241598"/>
              <a:ext cx="89654" cy="53447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0A6CB04-7F44-2656-B5C0-BA19CF4A55EF}"/>
                </a:ext>
              </a:extLst>
            </p:cNvPr>
            <p:cNvGrpSpPr/>
            <p:nvPr/>
          </p:nvGrpSpPr>
          <p:grpSpPr>
            <a:xfrm>
              <a:off x="11298880" y="3198881"/>
              <a:ext cx="528220" cy="528220"/>
              <a:chOff x="11298880" y="3198881"/>
              <a:chExt cx="528220" cy="52822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DDE88159-7C0D-0ECA-4691-159E9F72B0C3}"/>
                  </a:ext>
                </a:extLst>
              </p:cNvPr>
              <p:cNvSpPr/>
              <p:nvPr/>
            </p:nvSpPr>
            <p:spPr>
              <a:xfrm>
                <a:off x="11623675" y="3327400"/>
                <a:ext cx="73025" cy="730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40" name="Graphic 39" descr="Rocket outline">
                <a:extLst>
                  <a:ext uri="{FF2B5EF4-FFF2-40B4-BE49-F238E27FC236}">
                    <a16:creationId xmlns:a16="http://schemas.microsoft.com/office/drawing/2014/main" id="{31D8AE9C-6DAE-18D0-4E11-D1847BFA33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11298880" y="3198881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E151E43-388D-1379-0C86-3B16B7D21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415559" y="4602158"/>
            <a:ext cx="952774" cy="952774"/>
            <a:chOff x="8712550" y="4007070"/>
            <a:chExt cx="528220" cy="52822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684B467-F2BC-E2CA-C1D8-58E2B8928DE0}"/>
                </a:ext>
              </a:extLst>
            </p:cNvPr>
            <p:cNvSpPr/>
            <p:nvPr/>
          </p:nvSpPr>
          <p:spPr>
            <a:xfrm>
              <a:off x="9051925" y="4200525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C8A76DE-D6B4-E7E8-9BFC-5047FA2FBC9E}"/>
                </a:ext>
              </a:extLst>
            </p:cNvPr>
            <p:cNvGrpSpPr/>
            <p:nvPr/>
          </p:nvGrpSpPr>
          <p:grpSpPr>
            <a:xfrm>
              <a:off x="8712550" y="4007070"/>
              <a:ext cx="528220" cy="528220"/>
              <a:chOff x="8712550" y="4007070"/>
              <a:chExt cx="528220" cy="528220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7CB0088-71D9-B173-01F3-643D37EA15A1}"/>
                  </a:ext>
                </a:extLst>
              </p:cNvPr>
              <p:cNvSpPr/>
              <p:nvPr/>
            </p:nvSpPr>
            <p:spPr>
              <a:xfrm>
                <a:off x="8858250" y="4162425"/>
                <a:ext cx="123825" cy="12382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35" name="Graphic 34" descr="Test Dummy outline">
                <a:extLst>
                  <a:ext uri="{FF2B5EF4-FFF2-40B4-BE49-F238E27FC236}">
                    <a16:creationId xmlns:a16="http://schemas.microsoft.com/office/drawing/2014/main" id="{FFF4E145-FBE6-1035-8727-3E5365516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712550" y="4007070"/>
                <a:ext cx="528220" cy="528220"/>
              </a:xfrm>
              <a:prstGeom prst="rect">
                <a:avLst/>
              </a:prstGeom>
            </p:spPr>
          </p:pic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9AD1300-26B6-4618-9923-C9763BEA8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7629" y="1323744"/>
            <a:ext cx="11401345" cy="4795500"/>
            <a:chOff x="177629" y="1323744"/>
            <a:chExt cx="11401345" cy="4795500"/>
          </a:xfrm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191DB388-8AE6-D27E-EE45-54AE4D407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77629" y="4491478"/>
              <a:ext cx="301769" cy="301769"/>
              <a:chOff x="177629" y="4485128"/>
              <a:chExt cx="301769" cy="301769"/>
            </a:xfrm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A53DBD0A-368E-A0FF-F28C-D20A7ED52A21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7AD83492-28D3-6EE9-3E89-83AFC92038C7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C9EDB943-E93A-7686-9CD5-D347DCEB1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3840437" y="1323744"/>
              <a:ext cx="301769" cy="301769"/>
              <a:chOff x="177629" y="4485128"/>
              <a:chExt cx="301769" cy="301769"/>
            </a:xfrm>
          </p:grpSpPr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05C43D67-C50C-4951-E374-5EB39BCFEE06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36F888DD-164A-602B-6C03-391875003382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A1398F04-4324-B068-362D-86BADA8CE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4866228" y="5817475"/>
              <a:ext cx="301769" cy="301769"/>
              <a:chOff x="177629" y="4485128"/>
              <a:chExt cx="301769" cy="301769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64313864-DCAC-8C56-BC93-C2E9D7175F28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F2E03A96-264C-9B16-02A7-AB662FAF753B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558FF337-DCBF-E18A-612C-6FAC8AA7F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748446" y="2579010"/>
              <a:ext cx="301769" cy="301769"/>
              <a:chOff x="177629" y="4485128"/>
              <a:chExt cx="301769" cy="301769"/>
            </a:xfrm>
          </p:grpSpPr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C7C00316-C72E-9B3C-82C8-DC629EB6B01E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65D02F47-AFC8-498E-83E7-8CE50A21ABA7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625E5C35-EC87-4623-6A74-C2C555578E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1277205" y="1774315"/>
              <a:ext cx="301769" cy="301769"/>
              <a:chOff x="177629" y="4485128"/>
              <a:chExt cx="301769" cy="301769"/>
            </a:xfrm>
          </p:grpSpPr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83634796-B5E9-6A3D-F3ED-093E1E473DBD}"/>
                  </a:ext>
                </a:extLst>
              </p:cNvPr>
              <p:cNvSpPr/>
              <p:nvPr userDrawn="1"/>
            </p:nvSpPr>
            <p:spPr>
              <a:xfrm>
                <a:off x="177629" y="4485128"/>
                <a:ext cx="301769" cy="30176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61D37696-FE84-D547-9323-A142EB361F1D}"/>
                  </a:ext>
                </a:extLst>
              </p:cNvPr>
              <p:cNvSpPr/>
              <p:nvPr userDrawn="1"/>
            </p:nvSpPr>
            <p:spPr>
              <a:xfrm>
                <a:off x="246567" y="4558634"/>
                <a:ext cx="165100" cy="1651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51AF843-DA06-6016-4B8C-21A2FCEBD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235858" y="1807123"/>
              <a:ext cx="185620" cy="1856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C4B75F1-72BF-3E5E-0873-D2DD25B5C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084045" y="3210780"/>
              <a:ext cx="185620" cy="1856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2889E39-C57E-12AE-4D30-32EFAA08FE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293387" y="5819412"/>
              <a:ext cx="185620" cy="1856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F5C2B1A-E152-E79C-52FC-D79C44C8D1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2051341" y="5849417"/>
              <a:ext cx="185620" cy="18562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657501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030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437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366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799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961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797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946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3572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11677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916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832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216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52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677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4520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9605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8490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637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9739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6873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4044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CAF1-0792-4A85-BDC2-368C2C8109EE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51EC4-95D6-4447-ABC3-57B26AE95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8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0C82A-0B78-E879-C996-AB47861AA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C4391-2CAC-F574-6C5C-434EDFC26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67FA-6243-CE38-4EF3-259B8C289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B6D27-D5CC-BA7A-3DD3-7B3068AA0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244B3-FCE6-B9DB-0147-DDCAE9E9F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98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95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2A95C97-F4B3-4342-BCDD-4B8F6135A8C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B5F6652-4AD3-4829-B600-CA0B5BD02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286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E5256-7A44-320F-0554-B4A8E6B0A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8736" y="1208393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US" dirty="0"/>
              <a:t>Stock Price Movement Prediction Using Machine Learning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FD495-7AC9-C9BD-D81C-D99463182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0" y="5077439"/>
            <a:ext cx="4572000" cy="1655762"/>
          </a:xfrm>
        </p:spPr>
        <p:txBody>
          <a:bodyPr>
            <a:normAutofit/>
          </a:bodyPr>
          <a:lstStyle/>
          <a:p>
            <a:r>
              <a:rPr lang="en-IN" sz="1800" dirty="0"/>
              <a:t>Team Members:</a:t>
            </a:r>
          </a:p>
          <a:p>
            <a:pPr marL="342900" lvl="0" indent="-342900">
              <a:buAutoNum type="arabicPeriod"/>
            </a:pPr>
            <a:r>
              <a:rPr lang="en-IN" sz="1800" dirty="0"/>
              <a:t>Koushik Reddy </a:t>
            </a:r>
            <a:r>
              <a:rPr lang="en-IN" sz="1800" dirty="0" err="1"/>
              <a:t>Sudireddy</a:t>
            </a:r>
            <a:r>
              <a:rPr lang="en-IN" sz="1800" dirty="0"/>
              <a:t> – 11885863</a:t>
            </a:r>
          </a:p>
          <a:p>
            <a:pPr marL="342900" lvl="0" indent="-342900">
              <a:buAutoNum type="arabicPeriod"/>
            </a:pPr>
            <a:r>
              <a:rPr lang="en-IN" sz="1800" dirty="0"/>
              <a:t>Merla Ganesh Reddy – 11797294</a:t>
            </a:r>
          </a:p>
          <a:p>
            <a:pPr marL="342900" lvl="0" indent="-342900">
              <a:buAutoNum type="arabicPeriod"/>
            </a:pPr>
            <a:r>
              <a:rPr lang="en-IN" sz="1800" dirty="0"/>
              <a:t>Ruthvika </a:t>
            </a:r>
            <a:r>
              <a:rPr lang="en-IN" sz="1800" dirty="0" err="1"/>
              <a:t>Muchala</a:t>
            </a:r>
            <a:r>
              <a:rPr lang="en-IN" sz="1800" dirty="0"/>
              <a:t> - 11906895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4566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86F1-041A-A99F-11F9-4656BD58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7C17C-1082-C138-2DE9-AF7A8179C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Generally, Stock markets are highly volatile and are influenced by multiple factors.</a:t>
            </a:r>
          </a:p>
          <a:p>
            <a:pPr algn="just"/>
            <a:r>
              <a:rPr lang="en-US" dirty="0"/>
              <a:t>Predicting next-day price directions (UP/DOWN) can be useful in automated trading and risk management.</a:t>
            </a:r>
          </a:p>
          <a:p>
            <a:pPr algn="just"/>
            <a:r>
              <a:rPr lang="en-US" dirty="0"/>
              <a:t>The goal is to classify the return of a stock the next day based on historical price and technical indicators.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4118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8D88-4F0D-79E6-28D1-B9546313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66D63-058C-FA84-7F9A-9621C8581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Preprocess and clean large-scale stock price datasets.</a:t>
            </a:r>
          </a:p>
          <a:p>
            <a:r>
              <a:rPr lang="en-IN" dirty="0"/>
              <a:t>Create meaningful technical features: RSI, MACD, ATR, Bollinger bands, lags</a:t>
            </a:r>
          </a:p>
          <a:p>
            <a:r>
              <a:rPr lang="en-IN" dirty="0"/>
              <a:t>To train ML models using Logistic Regression, Random Forest, and </a:t>
            </a:r>
            <a:r>
              <a:rPr lang="en-IN" dirty="0" err="1"/>
              <a:t>XGBoost</a:t>
            </a:r>
            <a:r>
              <a:rPr lang="en-IN" dirty="0"/>
              <a:t> for directional prediction.</a:t>
            </a:r>
          </a:p>
          <a:p>
            <a:r>
              <a:rPr lang="en-IN" dirty="0"/>
              <a:t>To evaluate the models using Accuracy, Precision, Recall, F1, ROC-AUC.</a:t>
            </a:r>
          </a:p>
          <a:p>
            <a:r>
              <a:rPr lang="en-IN" dirty="0"/>
              <a:t>To do walk-forward validation and </a:t>
            </a:r>
            <a:r>
              <a:rPr lang="en-IN" dirty="0" err="1"/>
              <a:t>backtesting</a:t>
            </a:r>
            <a:r>
              <a:rPr lang="en-IN" dirty="0"/>
              <a:t> to simulate real-world trading.</a:t>
            </a:r>
          </a:p>
        </p:txBody>
      </p:sp>
    </p:spTree>
    <p:extLst>
      <p:ext uri="{BB962C8B-B14F-4D97-AF65-F5344CB8AC3E}">
        <p14:creationId xmlns:p14="http://schemas.microsoft.com/office/powerpoint/2010/main" val="2392872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CEDD-8EA8-F265-A95D-C9B020AE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35E1F-ACE2-E4DA-44E3-910684809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Handling large dataset (851k+ rows, 500+ tickers)</a:t>
            </a:r>
          </a:p>
          <a:p>
            <a:endParaRPr lang="en-US" dirty="0"/>
          </a:p>
          <a:p>
            <a:r>
              <a:rPr lang="en-US" dirty="0"/>
              <a:t>Alignment of time series data, missing sectors, and date cleaning.</a:t>
            </a:r>
          </a:p>
          <a:p>
            <a:endParaRPr lang="en-US" dirty="0"/>
          </a:p>
          <a:p>
            <a:r>
              <a:rPr lang="en-US" dirty="0"/>
              <a:t>Handling Data Leakage Across Time:</a:t>
            </a:r>
          </a:p>
          <a:p>
            <a:endParaRPr lang="en-US" dirty="0"/>
          </a:p>
          <a:p>
            <a:r>
              <a:rPr lang="en-US" dirty="0"/>
              <a:t>Predictive accuracies remain near random levels because of market efficiency.</a:t>
            </a:r>
          </a:p>
          <a:p>
            <a:endParaRPr lang="en-US" dirty="0"/>
          </a:p>
          <a:p>
            <a:r>
              <a:rPr lang="en-US" dirty="0"/>
              <a:t>Unbalanced </a:t>
            </a:r>
            <a:r>
              <a:rPr lang="en-US" dirty="0" err="1"/>
              <a:t>Behaviour</a:t>
            </a:r>
            <a:r>
              <a:rPr lang="en-US" dirty="0"/>
              <a:t> in Returns.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3292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FBBA-492E-35C4-9B37-D1257DDF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E764EB-4F6E-4047-C558-01CD09596B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896374"/>
            <a:ext cx="651973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Loading (Prices.csv, Securities.csv)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(sorting, merging, handling missing sectors)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(Technical Indicators)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Train–Validation–Test Split using time-based windows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Walk-forward validation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Random Forest strategy</a:t>
            </a:r>
          </a:p>
        </p:txBody>
      </p:sp>
    </p:spTree>
    <p:extLst>
      <p:ext uri="{BB962C8B-B14F-4D97-AF65-F5344CB8AC3E}">
        <p14:creationId xmlns:p14="http://schemas.microsoft.com/office/powerpoint/2010/main" val="5022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A9E752-F899-72EC-2BC6-4F52FEE04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859" y="1564850"/>
            <a:ext cx="10921537" cy="449658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8138CD80-B2C5-1245-2EB5-CA0CEA4C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of work</a:t>
            </a:r>
          </a:p>
        </p:txBody>
      </p:sp>
    </p:spTree>
    <p:extLst>
      <p:ext uri="{BB962C8B-B14F-4D97-AF65-F5344CB8AC3E}">
        <p14:creationId xmlns:p14="http://schemas.microsoft.com/office/powerpoint/2010/main" val="1912837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2FCCB-C668-E375-745A-4092D4DA7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744" y="209677"/>
            <a:ext cx="9064752" cy="1097915"/>
          </a:xfrm>
        </p:spPr>
        <p:txBody>
          <a:bodyPr>
            <a:normAutofit/>
          </a:bodyPr>
          <a:lstStyle/>
          <a:p>
            <a:r>
              <a:rPr lang="en-US" dirty="0"/>
              <a:t>Tools and Techniques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15DBE-C581-DF12-8B02-1BB4FA99B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5" y="1344676"/>
            <a:ext cx="9064752" cy="511175"/>
          </a:xfrm>
        </p:spPr>
        <p:txBody>
          <a:bodyPr/>
          <a:lstStyle/>
          <a:p>
            <a:r>
              <a:rPr lang="en-US" dirty="0"/>
              <a:t>At-a-glance</a:t>
            </a:r>
          </a:p>
        </p:txBody>
      </p:sp>
      <p:pic>
        <p:nvPicPr>
          <p:cNvPr id="158" name="Picture Placeholder 157" descr="Cloud Icon">
            <a:extLst>
              <a:ext uri="{FF2B5EF4-FFF2-40B4-BE49-F238E27FC236}">
                <a16:creationId xmlns:a16="http://schemas.microsoft.com/office/drawing/2014/main" id="{E00EE016-AD81-3104-FB78-D36E9AF9EFA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96" b="96"/>
          <a:stretch/>
        </p:blipFill>
        <p:spPr>
          <a:xfrm>
            <a:off x="10487786" y="649342"/>
            <a:ext cx="822960" cy="82296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51EFE-C206-4E9F-1ECA-69B8E80477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608" y="2556796"/>
            <a:ext cx="1996440" cy="381190"/>
          </a:xfrm>
        </p:spPr>
        <p:txBody>
          <a:bodyPr/>
          <a:lstStyle/>
          <a:p>
            <a:r>
              <a:rPr lang="en-US" sz="2000" dirty="0"/>
              <a:t>Programming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4798AF-C115-FD01-660C-FACB9324AE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3608" y="3391012"/>
            <a:ext cx="1996440" cy="778652"/>
          </a:xfrm>
        </p:spPr>
        <p:txBody>
          <a:bodyPr/>
          <a:lstStyle/>
          <a:p>
            <a:pPr algn="just"/>
            <a:r>
              <a:rPr lang="en-US" b="1" dirty="0"/>
              <a:t>Python</a:t>
            </a:r>
            <a:r>
              <a:rPr lang="en-US" dirty="0"/>
              <a:t> was used due to its simplicity and rich ecosystem for data analysis and machine learning.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392FED6-AAD8-5F8E-79B4-DF24A78237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62072" y="2556796"/>
            <a:ext cx="1996440" cy="381190"/>
          </a:xfrm>
        </p:spPr>
        <p:txBody>
          <a:bodyPr/>
          <a:lstStyle/>
          <a:p>
            <a:r>
              <a:rPr lang="en-US" sz="2000" dirty="0"/>
              <a:t>Libraries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3309AC-45B9-55D7-27D2-36A3565F37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62072" y="3391012"/>
            <a:ext cx="1996440" cy="778652"/>
          </a:xfrm>
        </p:spPr>
        <p:txBody>
          <a:bodyPr/>
          <a:lstStyle/>
          <a:p>
            <a:pPr algn="just"/>
            <a:r>
              <a:rPr lang="en-US" b="1" dirty="0"/>
              <a:t>NumPy, Pandas, Scikit-learn, </a:t>
            </a:r>
            <a:r>
              <a:rPr lang="en-US" b="1" dirty="0" err="1"/>
              <a:t>XGBoost</a:t>
            </a:r>
            <a:r>
              <a:rPr lang="en-US" b="1" dirty="0"/>
              <a:t>, and TA</a:t>
            </a:r>
            <a:r>
              <a:rPr lang="en-US" dirty="0"/>
              <a:t> were used for numerical processing, machine learning, and generating technical indicators essential for stock prediction.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718A59-7FF0-150D-65DA-7E2BCFAC70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0536" y="2556796"/>
            <a:ext cx="1996440" cy="381190"/>
          </a:xfrm>
        </p:spPr>
        <p:txBody>
          <a:bodyPr/>
          <a:lstStyle/>
          <a:p>
            <a:r>
              <a:rPr lang="en-US" sz="2000" dirty="0" err="1"/>
              <a:t>Vizualisation</a:t>
            </a:r>
            <a:endParaRPr lang="en-US" sz="20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D98222-E384-9A18-1F02-89CAC7CC3B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50536" y="3391012"/>
            <a:ext cx="1996440" cy="778652"/>
          </a:xfrm>
        </p:spPr>
        <p:txBody>
          <a:bodyPr/>
          <a:lstStyle/>
          <a:p>
            <a:pPr algn="just"/>
            <a:r>
              <a:rPr lang="en-US" b="1" dirty="0"/>
              <a:t>Matplotlib, Seaborn, and </a:t>
            </a:r>
            <a:r>
              <a:rPr lang="en-US" b="1" dirty="0" err="1"/>
              <a:t>Plotly</a:t>
            </a:r>
            <a:r>
              <a:rPr lang="en-US" dirty="0"/>
              <a:t> helped visualize trends, correlations, and model results through static and interactive charts.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668396-55B1-62F2-1540-284A767D70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39000" y="2556796"/>
            <a:ext cx="1996440" cy="381190"/>
          </a:xfrm>
        </p:spPr>
        <p:txBody>
          <a:bodyPr/>
          <a:lstStyle/>
          <a:p>
            <a:r>
              <a:rPr lang="en-US" sz="2000" dirty="0" err="1"/>
              <a:t>Ml</a:t>
            </a:r>
            <a:r>
              <a:rPr lang="en-US" sz="2000" dirty="0"/>
              <a:t> models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A796CA2-AD43-6CE8-757E-437D60714D2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9000" y="3391012"/>
            <a:ext cx="1996440" cy="778652"/>
          </a:xfrm>
        </p:spPr>
        <p:txBody>
          <a:bodyPr/>
          <a:lstStyle/>
          <a:p>
            <a:pPr algn="just"/>
            <a:r>
              <a:rPr lang="en-US" dirty="0"/>
              <a:t>We used </a:t>
            </a:r>
            <a:r>
              <a:rPr lang="en-US" b="1" dirty="0"/>
              <a:t>Logistic Regression, Random Forest, and </a:t>
            </a:r>
            <a:r>
              <a:rPr lang="en-US" b="1" dirty="0" err="1"/>
              <a:t>XGBoost</a:t>
            </a:r>
            <a:r>
              <a:rPr lang="en-US" dirty="0"/>
              <a:t> to model and predict next-day stock price movements.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43785B-1A6D-E1D6-6E52-FE4E67D01D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7464" y="2556796"/>
            <a:ext cx="2176932" cy="381190"/>
          </a:xfrm>
        </p:spPr>
        <p:txBody>
          <a:bodyPr/>
          <a:lstStyle/>
          <a:p>
            <a:r>
              <a:rPr lang="en-US" dirty="0"/>
              <a:t>environment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478444-AE6E-47B8-62DC-D7A1402293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27464" y="3391012"/>
            <a:ext cx="1996440" cy="778652"/>
          </a:xfrm>
        </p:spPr>
        <p:txBody>
          <a:bodyPr/>
          <a:lstStyle/>
          <a:p>
            <a:pPr algn="just"/>
            <a:r>
              <a:rPr lang="en-US" dirty="0"/>
              <a:t>The project was developed in </a:t>
            </a:r>
            <a:r>
              <a:rPr lang="en-US" b="1" dirty="0"/>
              <a:t>Google </a:t>
            </a:r>
            <a:r>
              <a:rPr lang="en-US" b="1" dirty="0" err="1"/>
              <a:t>Colab</a:t>
            </a:r>
            <a:r>
              <a:rPr lang="en-US" b="1" dirty="0"/>
              <a:t> and Jupyter Notebook</a:t>
            </a:r>
            <a:r>
              <a:rPr lang="en-US" dirty="0"/>
              <a:t>, enabling an interactive workflow with seamless coding, visualization, and experimentation.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819713-90D5-D6DB-A09C-7E98B2CAD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99568" y="1475740"/>
            <a:ext cx="3291058" cy="0"/>
          </a:xfrm>
          <a:prstGeom prst="line">
            <a:avLst/>
          </a:prstGeom>
          <a:ln w="28575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16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965B632-024F-A585-707F-00727EED9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2723" y="4497717"/>
            <a:ext cx="595294" cy="524295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76DF26-371D-E0D6-D2BC-B3B83CFF93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262" y="4513232"/>
            <a:ext cx="505533" cy="493263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62D9C1A-86E0-F699-3E9D-9D6CAEED46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8047" y="4525675"/>
            <a:ext cx="485391" cy="440879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32953A-49BC-5F71-28B8-376C0AA304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4035" y="4495421"/>
            <a:ext cx="505533" cy="454122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99D8AF3-2AD1-7CE5-BC98-B350C73C14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0023" y="4497716"/>
            <a:ext cx="505533" cy="524296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266900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9925-B83E-42CB-01F2-E1A42E8FC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B721D-BE21-9F30-E87D-9B64E94D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Baseline Models:</a:t>
            </a:r>
            <a:endParaRPr lang="en-IN" dirty="0"/>
          </a:p>
          <a:p>
            <a:pPr lvl="1"/>
            <a:r>
              <a:rPr lang="en-IN" dirty="0"/>
              <a:t>Prev Day Return Accuracy: ~0.488</a:t>
            </a:r>
          </a:p>
          <a:p>
            <a:pPr lvl="1"/>
            <a:r>
              <a:rPr lang="en-IN" dirty="0"/>
              <a:t>MA Crossover Accuracy: ~0.492</a:t>
            </a:r>
          </a:p>
          <a:p>
            <a:r>
              <a:rPr lang="en-IN" b="1" dirty="0"/>
              <a:t>Machine Learning Models (Best ~0.53 accuracy):</a:t>
            </a:r>
            <a:endParaRPr lang="en-IN" dirty="0"/>
          </a:p>
          <a:p>
            <a:pPr lvl="1"/>
            <a:r>
              <a:rPr lang="en-IN" dirty="0"/>
              <a:t>Logistic Regression: 0.49</a:t>
            </a:r>
          </a:p>
          <a:p>
            <a:pPr lvl="1"/>
            <a:r>
              <a:rPr lang="en-IN" dirty="0"/>
              <a:t>Random Forest: </a:t>
            </a:r>
            <a:r>
              <a:rPr lang="en-IN" b="1" dirty="0"/>
              <a:t>0.535 (best)</a:t>
            </a:r>
            <a:endParaRPr lang="en-IN" dirty="0"/>
          </a:p>
          <a:p>
            <a:pPr lvl="1"/>
            <a:r>
              <a:rPr lang="en-IN" dirty="0" err="1"/>
              <a:t>XGBoost</a:t>
            </a:r>
            <a:r>
              <a:rPr lang="en-IN" dirty="0"/>
              <a:t>: 0.526</a:t>
            </a:r>
          </a:p>
          <a:p>
            <a:r>
              <a:rPr lang="en-IN" b="1" dirty="0"/>
              <a:t>Walk-forward Validation Average:</a:t>
            </a:r>
            <a:endParaRPr lang="en-IN" dirty="0"/>
          </a:p>
          <a:p>
            <a:pPr lvl="1"/>
            <a:r>
              <a:rPr lang="en-IN" dirty="0"/>
              <a:t>Accuracy: 0.49–0.50</a:t>
            </a:r>
          </a:p>
          <a:p>
            <a:pPr lvl="1"/>
            <a:r>
              <a:rPr lang="en-IN" dirty="0"/>
              <a:t>F1 Score highest for </a:t>
            </a:r>
            <a:r>
              <a:rPr lang="en-IN" dirty="0" err="1"/>
              <a:t>XGBoost</a:t>
            </a:r>
            <a:r>
              <a:rPr lang="en-IN" dirty="0"/>
              <a:t> (0.51)</a:t>
            </a:r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13CA36-6633-6C27-8CA4-86204D60A5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2243358"/>
              </p:ext>
            </p:extLst>
          </p:nvPr>
        </p:nvGraphicFramePr>
        <p:xfrm>
          <a:off x="7371760" y="3176833"/>
          <a:ext cx="4352616" cy="1739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5436">
                  <a:extLst>
                    <a:ext uri="{9D8B030D-6E8A-4147-A177-3AD203B41FA5}">
                      <a16:colId xmlns:a16="http://schemas.microsoft.com/office/drawing/2014/main" val="1276515837"/>
                    </a:ext>
                  </a:extLst>
                </a:gridCol>
                <a:gridCol w="725436">
                  <a:extLst>
                    <a:ext uri="{9D8B030D-6E8A-4147-A177-3AD203B41FA5}">
                      <a16:colId xmlns:a16="http://schemas.microsoft.com/office/drawing/2014/main" val="46034633"/>
                    </a:ext>
                  </a:extLst>
                </a:gridCol>
                <a:gridCol w="725436">
                  <a:extLst>
                    <a:ext uri="{9D8B030D-6E8A-4147-A177-3AD203B41FA5}">
                      <a16:colId xmlns:a16="http://schemas.microsoft.com/office/drawing/2014/main" val="3237303028"/>
                    </a:ext>
                  </a:extLst>
                </a:gridCol>
                <a:gridCol w="725436">
                  <a:extLst>
                    <a:ext uri="{9D8B030D-6E8A-4147-A177-3AD203B41FA5}">
                      <a16:colId xmlns:a16="http://schemas.microsoft.com/office/drawing/2014/main" val="4219892805"/>
                    </a:ext>
                  </a:extLst>
                </a:gridCol>
                <a:gridCol w="725436">
                  <a:extLst>
                    <a:ext uri="{9D8B030D-6E8A-4147-A177-3AD203B41FA5}">
                      <a16:colId xmlns:a16="http://schemas.microsoft.com/office/drawing/2014/main" val="839993705"/>
                    </a:ext>
                  </a:extLst>
                </a:gridCol>
                <a:gridCol w="725436">
                  <a:extLst>
                    <a:ext uri="{9D8B030D-6E8A-4147-A177-3AD203B41FA5}">
                      <a16:colId xmlns:a16="http://schemas.microsoft.com/office/drawing/2014/main" val="714614789"/>
                    </a:ext>
                  </a:extLst>
                </a:gridCol>
              </a:tblGrid>
              <a:tr h="5752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Model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Accuracy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Precision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Recall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F1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ROC-AUC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177446"/>
                  </a:ext>
                </a:extLst>
              </a:tr>
              <a:tr h="2944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Logistic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0.494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0.507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0.395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0.444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0.506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835248"/>
                  </a:ext>
                </a:extLst>
              </a:tr>
              <a:tr h="5752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Random Forest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0.535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0.562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0.407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0.472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0.547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781462"/>
                  </a:ext>
                </a:extLst>
              </a:tr>
              <a:tr h="2944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XGBoost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0.526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0.541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0.486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0.512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 dirty="0">
                          <a:effectLst/>
                        </a:rPr>
                        <a:t>0.550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88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334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CBC458-DFBF-D520-1113-540932EE3A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782900" cy="3765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6EDD0E-6A73-E881-139E-FE6991606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877" y="0"/>
            <a:ext cx="5608123" cy="38602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2B7EDF-66B3-35BA-ADA4-19E37459D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1362" y="3860276"/>
            <a:ext cx="6573167" cy="302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6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DEDD84-C1D9-B401-E374-3E914E831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0441"/>
            <a:ext cx="6101381" cy="3379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7E8D96-67BA-3B09-C1E7-9A44A5F8E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775487" cy="3132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022BFF-5B53-E37B-E9A2-590EC660A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49037"/>
            <a:ext cx="6096000" cy="3508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A7FE8D-50D2-D57D-6238-1BFEEB454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597" y="3120408"/>
            <a:ext cx="5916890" cy="373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64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1F84C0-BE2E-2542-4014-FCF277A10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28" y="828092"/>
            <a:ext cx="10429187" cy="469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21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FCB6-957D-2DB1-C419-9A1DC196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Backtesting</a:t>
            </a:r>
            <a:r>
              <a:rPr lang="en-IN" dirty="0"/>
              <a:t>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975E9-0A4D-8CEF-CF05-8DAA0252E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Sharpe Ratio: </a:t>
            </a:r>
            <a:r>
              <a:rPr lang="en-US" b="1" dirty="0"/>
              <a:t>0.56</a:t>
            </a:r>
            <a:endParaRPr lang="en-US" dirty="0"/>
          </a:p>
          <a:p>
            <a:r>
              <a:rPr lang="en-US" dirty="0"/>
              <a:t>Max Drawdown: </a:t>
            </a:r>
            <a:r>
              <a:rPr lang="en-US" b="1" dirty="0"/>
              <a:t>-0.317</a:t>
            </a:r>
            <a:endParaRPr lang="en-US" dirty="0"/>
          </a:p>
          <a:p>
            <a:r>
              <a:rPr lang="en-US" dirty="0"/>
              <a:t>Final Strategy Return: </a:t>
            </a:r>
            <a:r>
              <a:rPr lang="en-US" b="1" dirty="0"/>
              <a:t>1.146x</a:t>
            </a:r>
            <a:endParaRPr lang="en-US" dirty="0"/>
          </a:p>
          <a:p>
            <a:r>
              <a:rPr lang="en-US" dirty="0"/>
              <a:t>Buy &amp; Hold Return: </a:t>
            </a:r>
            <a:r>
              <a:rPr lang="en-US" b="1" dirty="0"/>
              <a:t>1.249x</a:t>
            </a:r>
            <a:br>
              <a:rPr lang="en-US" dirty="0"/>
            </a:br>
            <a:r>
              <a:rPr lang="en-US" dirty="0"/>
              <a:t>➡ Model underperforms simple buy-and-hold.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229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0A07-DAF2-2A22-6184-D045BFA4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F46F-3F1F-8F30-4F08-828A5DD50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Introduce LSTM/GRU-based deep learning for </a:t>
            </a:r>
            <a:r>
              <a:rPr lang="en-IN" dirty="0" err="1"/>
              <a:t>modeling</a:t>
            </a:r>
            <a:r>
              <a:rPr lang="en-IN" dirty="0"/>
              <a:t> sequence data.</a:t>
            </a:r>
          </a:p>
          <a:p>
            <a:endParaRPr lang="en-IN" dirty="0"/>
          </a:p>
          <a:p>
            <a:r>
              <a:rPr lang="en-IN" dirty="0"/>
              <a:t>Incorporate macroeconomic elements and sentiment analysis.</a:t>
            </a:r>
          </a:p>
          <a:p>
            <a:endParaRPr lang="en-IN" dirty="0"/>
          </a:p>
          <a:p>
            <a:r>
              <a:rPr lang="en-IN" dirty="0"/>
              <a:t>Models based on multiple tickers simultaneously.</a:t>
            </a:r>
          </a:p>
          <a:p>
            <a:endParaRPr lang="en-IN" dirty="0"/>
          </a:p>
          <a:p>
            <a:r>
              <a:rPr lang="en-IN" dirty="0"/>
              <a:t>Hyperparameter tuning (Grid Search / </a:t>
            </a:r>
            <a:r>
              <a:rPr lang="en-IN" dirty="0" err="1"/>
              <a:t>Optuna</a:t>
            </a:r>
            <a:r>
              <a:rPr lang="en-IN" dirty="0"/>
              <a:t>).</a:t>
            </a:r>
          </a:p>
          <a:p>
            <a:endParaRPr lang="en-IN" dirty="0"/>
          </a:p>
          <a:p>
            <a:r>
              <a:rPr lang="en-IN" dirty="0"/>
              <a:t>Feature Selection and 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3668114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7581-C53E-97A3-25A5-48996A110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174E2-2A53-B7FC-AE44-A09F29C1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accuracy is near random because of Efficient Market Hypothesis.</a:t>
            </a:r>
          </a:p>
          <a:p>
            <a:endParaRPr lang="en-US" dirty="0"/>
          </a:p>
          <a:p>
            <a:r>
              <a:rPr lang="en-US" dirty="0"/>
              <a:t>Single-stock modelling prevents </a:t>
            </a:r>
            <a:r>
              <a:rPr lang="en-US" dirty="0" err="1"/>
              <a:t>generalisation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Technical indicators only; no news/sentiment data.</a:t>
            </a:r>
          </a:p>
          <a:p>
            <a:endParaRPr lang="en-US" dirty="0"/>
          </a:p>
          <a:p>
            <a:r>
              <a:rPr lang="en-US" dirty="0"/>
              <a:t>No optimization of transaction costs / slippage.</a:t>
            </a:r>
          </a:p>
          <a:p>
            <a:endParaRPr lang="en-US" dirty="0"/>
          </a:p>
          <a:p>
            <a:r>
              <a:rPr lang="en-US" dirty="0"/>
              <a:t>No advanced risk-adjusted portfolio optimization.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0635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6203-953B-14AC-EA34-4F7D616B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0A2CE-3037-EF59-1329-8F049F252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ML models give a slight improvement over simple baselines.</a:t>
            </a:r>
          </a:p>
          <a:p>
            <a:r>
              <a:rPr lang="en-US" dirty="0"/>
              <a:t>Random Forest and </a:t>
            </a:r>
            <a:r>
              <a:rPr lang="en-US" dirty="0" err="1"/>
              <a:t>XGBoost</a:t>
            </a:r>
            <a:r>
              <a:rPr lang="en-US" dirty="0"/>
              <a:t> perform modestly but not enough for profitable trading.</a:t>
            </a:r>
          </a:p>
          <a:p>
            <a:r>
              <a:rPr lang="en-US" dirty="0" err="1"/>
              <a:t>Backtesting</a:t>
            </a:r>
            <a:r>
              <a:rPr lang="en-US" dirty="0"/>
              <a:t> shows model predictions do not outperform </a:t>
            </a:r>
          </a:p>
          <a:p>
            <a:r>
              <a:rPr lang="en-US" dirty="0"/>
              <a:t>Data quality affects outcomes to some extent.</a:t>
            </a:r>
          </a:p>
          <a:p>
            <a:r>
              <a:rPr lang="en-US" dirty="0"/>
              <a:t>It shows excellent pipeline for ML time series on finance projects.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391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6922E-D7FF-40BA-511C-7D2A47EE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557822"/>
            <a:ext cx="7729728" cy="118872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83841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3.xml><?xml version="1.0" encoding="utf-8"?>
<a:theme xmlns:a="http://schemas.openxmlformats.org/drawingml/2006/main" name="1_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294</TotalTime>
  <Words>614</Words>
  <Application>Microsoft Office PowerPoint</Application>
  <PresentationFormat>Widescreen</PresentationFormat>
  <Paragraphs>116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Gill Sans MT</vt:lpstr>
      <vt:lpstr>Office Theme</vt:lpstr>
      <vt:lpstr>Parcel</vt:lpstr>
      <vt:lpstr>1_Parcel</vt:lpstr>
      <vt:lpstr>Stock Price Movement Prediction Using Machine Learning</vt:lpstr>
      <vt:lpstr>Problem Statement </vt:lpstr>
      <vt:lpstr>Objectives</vt:lpstr>
      <vt:lpstr>Challenges</vt:lpstr>
      <vt:lpstr>Methodology</vt:lpstr>
      <vt:lpstr>Flow of work</vt:lpstr>
      <vt:lpstr>Tools and Techniques</vt:lpstr>
      <vt:lpstr>Results</vt:lpstr>
      <vt:lpstr>PowerPoint Presentation</vt:lpstr>
      <vt:lpstr>PowerPoint Presentation</vt:lpstr>
      <vt:lpstr>PowerPoint Presentation</vt:lpstr>
      <vt:lpstr>Backtesting Summary</vt:lpstr>
      <vt:lpstr>Future enhancements</vt:lpstr>
      <vt:lpstr>limitations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Reddy</dc:creator>
  <cp:lastModifiedBy>Ganesh Reddy</cp:lastModifiedBy>
  <cp:revision>1</cp:revision>
  <dcterms:created xsi:type="dcterms:W3CDTF">2025-11-20T01:34:54Z</dcterms:created>
  <dcterms:modified xsi:type="dcterms:W3CDTF">2025-11-20T06:29:34Z</dcterms:modified>
</cp:coreProperties>
</file>